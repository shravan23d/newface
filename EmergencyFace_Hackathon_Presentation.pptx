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4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06BBC-2F70-E6AF-C334-B0175EA04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2E594E-75E0-05DB-40A1-63F3399442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C2F31-BDC6-9492-273E-A4B74CCCF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7682E-51D1-4657-B91C-F235C8CE223A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DDDDA-9992-DB41-1011-5E36EA779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7B458-7043-DA9C-A5AD-75FD413CE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A2A72-BE4A-4F43-A28C-F4BAB88C1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642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6E8BD-E83A-604E-1BEE-D07F884D7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656CB-EA97-81A8-EBB2-13D2FE86C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5E5E3-332A-602D-409B-A19AE9E5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7682E-51D1-4657-B91C-F235C8CE223A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655C5-425A-CC8D-6151-798112D6D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908E2-D198-3E57-2473-CEC0602E2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A2A72-BE4A-4F43-A28C-F4BAB88C1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549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026FA-6642-C93E-EC9B-BDACAB80E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210C7E-140A-22D1-EE32-66FBB6B29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0BAAD-55DA-7DFF-39D1-F2A2EBC12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7682E-51D1-4657-B91C-F235C8CE223A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25A7E-E4D9-47E4-2C5B-C05AC87F7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A661F-3E44-164D-CA04-FB13A07BC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A2A72-BE4A-4F43-A28C-F4BAB88C1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147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7B13-7CAA-C0B0-DA31-4CDCEC402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C3AC6-673C-79D1-889C-34AD523A11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9BFFA0-8161-3797-DD65-844D3BEEB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6D69D9-A7AF-55C0-5CF2-E1277B2E5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7682E-51D1-4657-B91C-F235C8CE223A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AD8C7-B867-B386-4ED1-1FE5D2141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1DAC5-72F9-597D-BD1E-84E970CFB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A2A72-BE4A-4F43-A28C-F4BAB88C1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769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B1762-DBA4-C79C-EF19-F408BB80E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E3E4E-3C0C-02B3-5920-3E1794AA0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7184D9-32B1-018A-E285-C46AC64047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FC3FEE-68E7-D5CF-0B3C-8568EE1CD2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C1B9D5-6D1E-603C-694D-7ABDDDCBD9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D1CB79-352E-3B6D-9827-5363AC4A1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7682E-51D1-4657-B91C-F235C8CE223A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F4CB26-4D54-DED3-C68D-CDE8AD421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69C543-1669-FBBA-EBCA-168EEFB7A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A2A72-BE4A-4F43-A28C-F4BAB88C1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26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46096-2F1C-412E-0167-7A1AB96F1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B2E1EA-113A-4DD3-34BC-5BEFA5B49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7682E-51D1-4657-B91C-F235C8CE223A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DBBFE5-7609-F41C-D194-FC92A121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AB4AA-0270-954E-3FC6-51DE11D88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A2A72-BE4A-4F43-A28C-F4BAB88C1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88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EA62F5-87F1-4062-53BC-A35B84222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7682E-51D1-4657-B91C-F235C8CE223A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C28B02-90EC-1923-041E-EBB8BBE4E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7A05A-BBB7-74DF-356B-42F1ECD8E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A2A72-BE4A-4F43-A28C-F4BAB88C1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480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E3D42-C84E-F110-EF26-A67AB3909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7640F-AD89-2258-B0DD-E89AA404D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6ABC13-FD2F-44F0-76DD-24FDD2984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8E495-6C80-B6FF-2D69-FDDEC8E89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7682E-51D1-4657-B91C-F235C8CE223A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7055-7654-F15F-24FD-8316E8AC1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4D193-D92E-9E96-73C2-A3A08D716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A2A72-BE4A-4F43-A28C-F4BAB88C1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362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C280C-3BD3-24C6-0592-4D6A72412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F10D20-4BFB-4BFC-0FDC-020B530BD2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CA9742-E138-A219-EAC8-57848384F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9EA54-4C04-4F74-8721-017AF10F0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7682E-51D1-4657-B91C-F235C8CE223A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58DF9-5C65-728A-FE93-83D2BE82E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F5C47-2095-383E-8E98-942B7D7EA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A2A72-BE4A-4F43-A28C-F4BAB88C1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015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1DB19-4799-289B-E2F4-DA2F190FA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E4E79D-197C-2DE7-E8AA-F70BDE0C8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062F3-D735-FE96-B998-1D6205C22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7682E-51D1-4657-B91C-F235C8CE223A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B6757-50CD-3E07-3372-AA5953727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097EB-90D7-6C0A-4FC2-A69672349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A2A72-BE4A-4F43-A28C-F4BAB88C1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657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2AB263-0953-6232-AF03-A1763FE96B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2A00F-D06D-A7E7-8FF8-7D5F0384A6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8F348-324A-2447-267D-FAC21EF8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7682E-51D1-4657-B91C-F235C8CE223A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1895A-8A39-7697-D571-0D7AC2E86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5E351-5E77-DAA6-9D5D-8863C3C31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A2A72-BE4A-4F43-A28C-F4BAB88C1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802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62C32-3DF4-4441-52BF-2C5389A19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9DAB0-D604-0184-59C6-F8074BA89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31817-DF1E-59B6-9A27-04B127CA99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47682E-51D1-4657-B91C-F235C8CE223A}" type="datetimeFigureOut">
              <a:rPr lang="en-IN" smtClean="0"/>
              <a:t>11-05-2026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A7291-6281-79FF-7550-818C334F17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36E24-161C-DE92-CFF9-7F4E2047A2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A2A72-BE4A-4F43-A28C-F4BAB88C1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856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0F04D39-EBD8-0B10-2384-6ABE6C0549DC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27181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7D6DB1-F36A-7366-1B68-C750DE229E17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B18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38CAA1-7497-EB73-F91C-689F3264C81D}"/>
              </a:ext>
            </a:extLst>
          </p:cNvPr>
          <p:cNvSpPr/>
          <p:nvPr/>
        </p:nvSpPr>
        <p:spPr>
          <a:xfrm>
            <a:off x="0" y="0"/>
            <a:ext cx="16256000" cy="2286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5956E9-85FC-DA55-D4FB-BCB94D0DDC81}"/>
              </a:ext>
            </a:extLst>
          </p:cNvPr>
          <p:cNvSpPr txBox="1"/>
          <p:nvPr/>
        </p:nvSpPr>
        <p:spPr>
          <a:xfrm>
            <a:off x="889000" y="1905000"/>
            <a:ext cx="9144000" cy="83099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5400" b="1">
                <a:solidFill>
                  <a:srgbClr val="FFFFFF"/>
                </a:solidFill>
                <a:latin typeface="Aptos" panose="020B0004020202020204" pitchFamily="34" charset="0"/>
              </a:rPr>
              <a:t>EmergencyFace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EE1759-1A20-E4BE-5D00-86F338EE56AF}"/>
              </a:ext>
            </a:extLst>
          </p:cNvPr>
          <p:cNvSpPr txBox="1"/>
          <p:nvPr/>
        </p:nvSpPr>
        <p:spPr>
          <a:xfrm>
            <a:off x="939800" y="3022600"/>
            <a:ext cx="10160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400">
                <a:solidFill>
                  <a:srgbClr val="A5A5FC"/>
                </a:solidFill>
                <a:latin typeface="Aptos" panose="020B0004020202020204" pitchFamily="34" charset="0"/>
              </a:rPr>
              <a:t>Face-based emergency medical identity system</a:t>
            </a:r>
            <a:endParaRPr lang="en-IN" sz="2400">
              <a:solidFill>
                <a:srgbClr val="A5A5FC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92D518-575D-662C-256A-0F287BB6B995}"/>
              </a:ext>
            </a:extLst>
          </p:cNvPr>
          <p:cNvSpPr txBox="1"/>
          <p:nvPr/>
        </p:nvSpPr>
        <p:spPr>
          <a:xfrm>
            <a:off x="965200" y="3873500"/>
            <a:ext cx="96520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400">
                <a:solidFill>
                  <a:srgbClr val="EBE7E5"/>
                </a:solidFill>
                <a:latin typeface="Aptos" panose="020B0004020202020204" pitchFamily="34" charset="0"/>
              </a:rPr>
              <a:t>A hackathon project that helps responders access critical medical details when the patient cannot speak.</a:t>
            </a:r>
            <a:endParaRPr lang="en-IN" sz="2400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C8F320B-B2E4-FA34-B0F7-1C763F8FF18B}"/>
              </a:ext>
            </a:extLst>
          </p:cNvPr>
          <p:cNvSpPr/>
          <p:nvPr/>
        </p:nvSpPr>
        <p:spPr>
          <a:xfrm>
            <a:off x="10795000" y="1625600"/>
            <a:ext cx="4064000" cy="46990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FFFFFF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F4F542-ABA8-92B1-92C5-C2A3959802EC}"/>
              </a:ext>
            </a:extLst>
          </p:cNvPr>
          <p:cNvSpPr txBox="1"/>
          <p:nvPr/>
        </p:nvSpPr>
        <p:spPr>
          <a:xfrm>
            <a:off x="11366500" y="2222500"/>
            <a:ext cx="2794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b="1">
                <a:solidFill>
                  <a:srgbClr val="80726B"/>
                </a:solidFill>
                <a:latin typeface="Aptos" panose="020B0004020202020204" pitchFamily="34" charset="0"/>
              </a:rPr>
              <a:t>Responder Scan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E3F1C7-222F-1409-7659-93C5D46DB5EF}"/>
              </a:ext>
            </a:extLst>
          </p:cNvPr>
          <p:cNvSpPr txBox="1"/>
          <p:nvPr/>
        </p:nvSpPr>
        <p:spPr>
          <a:xfrm>
            <a:off x="11811000" y="2946400"/>
            <a:ext cx="1905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2200" b="1">
                <a:solidFill>
                  <a:srgbClr val="4AA316"/>
                </a:solidFill>
                <a:latin typeface="Aptos" panose="020B0004020202020204" pitchFamily="34" charset="0"/>
              </a:rPr>
              <a:t>MATCHED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5DF0D0-410E-54C6-17D7-09818F149DBA}"/>
              </a:ext>
            </a:extLst>
          </p:cNvPr>
          <p:cNvSpPr txBox="1"/>
          <p:nvPr/>
        </p:nvSpPr>
        <p:spPr>
          <a:xfrm>
            <a:off x="11684000" y="3810000"/>
            <a:ext cx="2286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1600">
                <a:solidFill>
                  <a:srgbClr val="80726B"/>
                </a:solidFill>
                <a:latin typeface="Aptos" panose="020B0004020202020204" pitchFamily="34" charset="0"/>
              </a:rPr>
              <a:t>Blood Type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15DC48-3FCD-813D-EE3A-405156C72FE6}"/>
              </a:ext>
            </a:extLst>
          </p:cNvPr>
          <p:cNvSpPr txBox="1"/>
          <p:nvPr/>
        </p:nvSpPr>
        <p:spPr>
          <a:xfrm>
            <a:off x="12001500" y="4191000"/>
            <a:ext cx="1651000" cy="80021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5200" b="1">
                <a:solidFill>
                  <a:srgbClr val="2626DC"/>
                </a:solidFill>
                <a:latin typeface="Aptos" panose="020B0004020202020204" pitchFamily="34" charset="0"/>
              </a:rPr>
              <a:t>O+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CCCBEF-47F5-10BA-E17E-E909B83B82EF}"/>
              </a:ext>
            </a:extLst>
          </p:cNvPr>
          <p:cNvSpPr txBox="1"/>
          <p:nvPr/>
        </p:nvSpPr>
        <p:spPr>
          <a:xfrm>
            <a:off x="11303000" y="5397500"/>
            <a:ext cx="3175000" cy="2308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1500">
                <a:solidFill>
                  <a:srgbClr val="514137"/>
                </a:solidFill>
                <a:latin typeface="Aptos" panose="020B0004020202020204" pitchFamily="34" charset="0"/>
              </a:rPr>
              <a:t>Allergies • Contact • Address • Notes</a:t>
            </a:r>
          </a:p>
        </p:txBody>
      </p:sp>
    </p:spTree>
    <p:extLst>
      <p:ext uri="{BB962C8B-B14F-4D97-AF65-F5344CB8AC3E}">
        <p14:creationId xmlns:p14="http://schemas.microsoft.com/office/powerpoint/2010/main" val="4112709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57A446-7184-C444-C041-01857D558336}"/>
              </a:ext>
            </a:extLst>
          </p:cNvPr>
          <p:cNvSpPr txBox="1"/>
          <p:nvPr/>
        </p:nvSpPr>
        <p:spPr>
          <a:xfrm>
            <a:off x="787400" y="4826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3000" b="1">
                <a:solidFill>
                  <a:srgbClr val="271811"/>
                </a:solidFill>
                <a:latin typeface="Aptos" panose="020B0004020202020204" pitchFamily="34" charset="0"/>
              </a:rPr>
              <a:t>The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CC8925-B815-0863-9F0B-1FE7A5145E32}"/>
              </a:ext>
            </a:extLst>
          </p:cNvPr>
          <p:cNvSpPr txBox="1"/>
          <p:nvPr/>
        </p:nvSpPr>
        <p:spPr>
          <a:xfrm>
            <a:off x="812800" y="1168400"/>
            <a:ext cx="10922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>
                <a:solidFill>
                  <a:srgbClr val="80726B"/>
                </a:solidFill>
                <a:latin typeface="Aptos" panose="020B0004020202020204" pitchFamily="34" charset="0"/>
              </a:rPr>
              <a:t>In emergencies, time and identity are both fragile.</a:t>
            </a:r>
            <a:endParaRPr lang="en-IN" sz="14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C484E2-0894-D318-C9E9-80B30CF46E11}"/>
              </a:ext>
            </a:extLst>
          </p:cNvPr>
          <p:cNvSpPr/>
          <p:nvPr/>
        </p:nvSpPr>
        <p:spPr>
          <a:xfrm>
            <a:off x="812800" y="1625600"/>
            <a:ext cx="1219200" cy="635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66F2876-7F58-886E-2B12-8F116D168062}"/>
              </a:ext>
            </a:extLst>
          </p:cNvPr>
          <p:cNvSpPr/>
          <p:nvPr/>
        </p:nvSpPr>
        <p:spPr>
          <a:xfrm>
            <a:off x="889000" y="2286000"/>
            <a:ext cx="4318000" cy="22860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EBE7E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FA5933-A290-DACE-FD66-B11FDC30B296}"/>
              </a:ext>
            </a:extLst>
          </p:cNvPr>
          <p:cNvSpPr/>
          <p:nvPr/>
        </p:nvSpPr>
        <p:spPr>
          <a:xfrm>
            <a:off x="889000" y="2286000"/>
            <a:ext cx="101600" cy="22860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2A8CFB-72B6-097A-64DB-15D24DC07052}"/>
              </a:ext>
            </a:extLst>
          </p:cNvPr>
          <p:cNvSpPr txBox="1"/>
          <p:nvPr/>
        </p:nvSpPr>
        <p:spPr>
          <a:xfrm>
            <a:off x="1193800" y="25654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b="1">
                <a:solidFill>
                  <a:srgbClr val="271811"/>
                </a:solidFill>
                <a:latin typeface="Aptos" panose="020B0004020202020204" pitchFamily="34" charset="0"/>
              </a:rPr>
              <a:t>Patient cannot speak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471093-A6C5-6496-036C-B0158B8AD0F4}"/>
              </a:ext>
            </a:extLst>
          </p:cNvPr>
          <p:cNvSpPr txBox="1"/>
          <p:nvPr/>
        </p:nvSpPr>
        <p:spPr>
          <a:xfrm>
            <a:off x="1193800" y="3073400"/>
            <a:ext cx="37592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63554B"/>
                </a:solidFill>
                <a:latin typeface="Aptos" panose="020B0004020202020204" pitchFamily="34" charset="0"/>
              </a:rPr>
              <a:t>Accidents, unconsciousness, panic, or language barriers can prevent responders from getting medical history.</a:t>
            </a:r>
            <a:endParaRPr lang="en-IN" sz="1300">
              <a:solidFill>
                <a:srgbClr val="63554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C85086A-41DE-EAB8-FB04-99506D25A23D}"/>
              </a:ext>
            </a:extLst>
          </p:cNvPr>
          <p:cNvSpPr/>
          <p:nvPr/>
        </p:nvSpPr>
        <p:spPr>
          <a:xfrm>
            <a:off x="5969000" y="2286000"/>
            <a:ext cx="4318000" cy="22860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EBE7E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D47F6A-0165-9DEC-69CF-29030C1B9B2F}"/>
              </a:ext>
            </a:extLst>
          </p:cNvPr>
          <p:cNvSpPr/>
          <p:nvPr/>
        </p:nvSpPr>
        <p:spPr>
          <a:xfrm>
            <a:off x="5969000" y="2286000"/>
            <a:ext cx="101600" cy="22860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1E0E3F-7BA1-4EE8-6774-42F3E1E6A9DC}"/>
              </a:ext>
            </a:extLst>
          </p:cNvPr>
          <p:cNvSpPr txBox="1"/>
          <p:nvPr/>
        </p:nvSpPr>
        <p:spPr>
          <a:xfrm>
            <a:off x="6273800" y="25654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b="1">
                <a:solidFill>
                  <a:srgbClr val="271811"/>
                </a:solidFill>
                <a:latin typeface="Aptos" panose="020B0004020202020204" pitchFamily="34" charset="0"/>
              </a:rPr>
              <a:t>Medical data is scattered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83CC67-A7B3-F66E-B6D5-897EE420AC44}"/>
              </a:ext>
            </a:extLst>
          </p:cNvPr>
          <p:cNvSpPr txBox="1"/>
          <p:nvPr/>
        </p:nvSpPr>
        <p:spPr>
          <a:xfrm>
            <a:off x="6273800" y="3073400"/>
            <a:ext cx="37592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63554B"/>
                </a:solidFill>
                <a:latin typeface="Aptos" panose="020B0004020202020204" pitchFamily="34" charset="0"/>
              </a:rPr>
              <a:t>Blood group, allergies, conditions, and contact details are often locked in phones, wallets, or memory.</a:t>
            </a:r>
            <a:endParaRPr lang="en-IN" sz="1300">
              <a:solidFill>
                <a:srgbClr val="63554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CACA192-9D72-179A-3AA3-1C3817F9C8BB}"/>
              </a:ext>
            </a:extLst>
          </p:cNvPr>
          <p:cNvSpPr/>
          <p:nvPr/>
        </p:nvSpPr>
        <p:spPr>
          <a:xfrm>
            <a:off x="11049000" y="2286000"/>
            <a:ext cx="4318000" cy="22860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EBE7E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6BECE4-42BD-079A-4A25-FC5643175F4D}"/>
              </a:ext>
            </a:extLst>
          </p:cNvPr>
          <p:cNvSpPr/>
          <p:nvPr/>
        </p:nvSpPr>
        <p:spPr>
          <a:xfrm>
            <a:off x="11049000" y="2286000"/>
            <a:ext cx="101600" cy="22860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37586D-8173-0A28-F041-48A512DFD108}"/>
              </a:ext>
            </a:extLst>
          </p:cNvPr>
          <p:cNvSpPr txBox="1"/>
          <p:nvPr/>
        </p:nvSpPr>
        <p:spPr>
          <a:xfrm>
            <a:off x="11353800" y="2565400"/>
            <a:ext cx="3759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b="1">
                <a:solidFill>
                  <a:srgbClr val="271811"/>
                </a:solidFill>
                <a:latin typeface="Aptos" panose="020B0004020202020204" pitchFamily="34" charset="0"/>
              </a:rPr>
              <a:t>Responder time is limited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23D9C4-26CB-3C0C-102F-FD9137F6044F}"/>
              </a:ext>
            </a:extLst>
          </p:cNvPr>
          <p:cNvSpPr txBox="1"/>
          <p:nvPr/>
        </p:nvSpPr>
        <p:spPr>
          <a:xfrm>
            <a:off x="11353800" y="3073400"/>
            <a:ext cx="37592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63554B"/>
                </a:solidFill>
                <a:latin typeface="Aptos" panose="020B0004020202020204" pitchFamily="34" charset="0"/>
              </a:rPr>
              <a:t>Every minute spent identifying a person delays first aid and hospital coordination.</a:t>
            </a:r>
            <a:endParaRPr lang="en-IN" sz="1300">
              <a:solidFill>
                <a:srgbClr val="63554B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37FA97-9E03-59E0-7492-DE7992595F53}"/>
              </a:ext>
            </a:extLst>
          </p:cNvPr>
          <p:cNvSpPr txBox="1"/>
          <p:nvPr/>
        </p:nvSpPr>
        <p:spPr>
          <a:xfrm>
            <a:off x="1524000" y="5969000"/>
            <a:ext cx="13208000" cy="86177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2800" b="1">
                <a:solidFill>
                  <a:srgbClr val="271811"/>
                </a:solidFill>
                <a:latin typeface="Aptos" panose="020B0004020202020204" pitchFamily="34" charset="0"/>
              </a:rPr>
              <a:t>Core insight: emergency identity should be fast, accessible, and focused only on life-saving details.</a:t>
            </a:r>
            <a:endParaRPr lang="en-IN" sz="2800" b="1">
              <a:solidFill>
                <a:srgbClr val="27181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962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6A1E4A-E8F2-6483-8FA8-C7FF807187B8}"/>
              </a:ext>
            </a:extLst>
          </p:cNvPr>
          <p:cNvSpPr txBox="1"/>
          <p:nvPr/>
        </p:nvSpPr>
        <p:spPr>
          <a:xfrm>
            <a:off x="787400" y="4826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3000" b="1">
                <a:solidFill>
                  <a:srgbClr val="271811"/>
                </a:solidFill>
                <a:latin typeface="Aptos" panose="020B0004020202020204" pitchFamily="34" charset="0"/>
              </a:rPr>
              <a:t>Our 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35D79D-3BAD-874E-4C26-273620E1CC10}"/>
              </a:ext>
            </a:extLst>
          </p:cNvPr>
          <p:cNvSpPr txBox="1"/>
          <p:nvPr/>
        </p:nvSpPr>
        <p:spPr>
          <a:xfrm>
            <a:off x="812800" y="1168400"/>
            <a:ext cx="10922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>
                <a:solidFill>
                  <a:srgbClr val="80726B"/>
                </a:solidFill>
                <a:latin typeface="Aptos" panose="020B0004020202020204" pitchFamily="34" charset="0"/>
              </a:rPr>
              <a:t>A simple face-linked emergency profile.</a:t>
            </a:r>
            <a:endParaRPr lang="en-IN" sz="14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08EA4B-7664-B43A-D3B4-28F24C6D35A5}"/>
              </a:ext>
            </a:extLst>
          </p:cNvPr>
          <p:cNvSpPr/>
          <p:nvPr/>
        </p:nvSpPr>
        <p:spPr>
          <a:xfrm>
            <a:off x="812800" y="1625600"/>
            <a:ext cx="1219200" cy="635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1DCBF31-C937-D307-7552-B0683E3B54B8}"/>
              </a:ext>
            </a:extLst>
          </p:cNvPr>
          <p:cNvSpPr/>
          <p:nvPr/>
        </p:nvSpPr>
        <p:spPr>
          <a:xfrm>
            <a:off x="838200" y="2209800"/>
            <a:ext cx="6604000" cy="4445000"/>
          </a:xfrm>
          <a:prstGeom prst="roundRect">
            <a:avLst/>
          </a:prstGeom>
          <a:solidFill>
            <a:srgbClr val="271811"/>
          </a:solidFill>
          <a:ln w="15240" cap="flat" cmpd="sng" algn="ctr">
            <a:solidFill>
              <a:srgbClr val="27181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42DE6E-A105-14AB-D5E9-694664983771}"/>
              </a:ext>
            </a:extLst>
          </p:cNvPr>
          <p:cNvSpPr txBox="1"/>
          <p:nvPr/>
        </p:nvSpPr>
        <p:spPr>
          <a:xfrm>
            <a:off x="1333500" y="2857500"/>
            <a:ext cx="5588000" cy="200054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600" b="1">
                <a:solidFill>
                  <a:srgbClr val="FFFFFF"/>
                </a:solidFill>
                <a:latin typeface="Aptos" panose="020B0004020202020204" pitchFamily="34" charset="0"/>
              </a:rPr>
              <a:t>EmergencyFace lets users register a profile, save emergency medical details, and let responders scan a face to retrieve only the critical information.</a:t>
            </a:r>
            <a:endParaRPr lang="en-IN" sz="26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9A4974-F70B-B4BB-0136-259C877A316A}"/>
              </a:ext>
            </a:extLst>
          </p:cNvPr>
          <p:cNvSpPr txBox="1"/>
          <p:nvPr/>
        </p:nvSpPr>
        <p:spPr>
          <a:xfrm>
            <a:off x="1371600" y="5181600"/>
            <a:ext cx="5207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700">
                <a:solidFill>
                  <a:srgbClr val="DBD5D1"/>
                </a:solidFill>
                <a:latin typeface="Aptos" panose="020B0004020202020204" pitchFamily="34" charset="0"/>
              </a:rPr>
              <a:t>Built for hackathon demo: fast onboarding, camera flow, secure login, dashboard, and emergency scan mode.</a:t>
            </a:r>
            <a:endParaRPr lang="en-IN" sz="1700">
              <a:solidFill>
                <a:srgbClr val="DBD5D1"/>
              </a:solidFill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8AF954-B249-D5C2-D097-CFAB10AAC9A3}"/>
              </a:ext>
            </a:extLst>
          </p:cNvPr>
          <p:cNvSpPr txBox="1"/>
          <p:nvPr/>
        </p:nvSpPr>
        <p:spPr>
          <a:xfrm>
            <a:off x="8572500" y="2413000"/>
            <a:ext cx="6096000" cy="173893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200">
                <a:solidFill>
                  <a:srgbClr val="271811"/>
                </a:solidFill>
                <a:latin typeface="Aptos" panose="020B0004020202020204" pitchFamily="34" charset="0"/>
              </a:rPr>
              <a:t>• Face registration and face login</a:t>
            </a:r>
          </a:p>
          <a:p>
            <a:pPr>
              <a:spcAft>
                <a:spcPts val="1000"/>
              </a:spcAft>
            </a:pPr>
            <a:r>
              <a:rPr lang="en-US" sz="2200">
                <a:solidFill>
                  <a:srgbClr val="271811"/>
                </a:solidFill>
                <a:latin typeface="Aptos" panose="020B0004020202020204" pitchFamily="34" charset="0"/>
              </a:rPr>
              <a:t>• Emergency profile dashboard</a:t>
            </a:r>
          </a:p>
          <a:p>
            <a:pPr>
              <a:spcAft>
                <a:spcPts val="1000"/>
              </a:spcAft>
            </a:pPr>
            <a:r>
              <a:rPr lang="en-US" sz="2200">
                <a:solidFill>
                  <a:srgbClr val="271811"/>
                </a:solidFill>
                <a:latin typeface="Aptos" panose="020B0004020202020204" pitchFamily="34" charset="0"/>
              </a:rPr>
              <a:t>• Responder-facing scan page</a:t>
            </a:r>
          </a:p>
          <a:p>
            <a:pPr>
              <a:spcAft>
                <a:spcPts val="1000"/>
              </a:spcAft>
            </a:pPr>
            <a:r>
              <a:rPr lang="en-US" sz="2200">
                <a:solidFill>
                  <a:srgbClr val="271811"/>
                </a:solidFill>
                <a:latin typeface="Aptos" panose="020B0004020202020204" pitchFamily="34" charset="0"/>
              </a:rPr>
              <a:t>• Password fallback when camera is blocked</a:t>
            </a:r>
            <a:endParaRPr lang="en-IN" sz="2200">
              <a:solidFill>
                <a:srgbClr val="27181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618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4DAECF-6146-C8D4-D29C-C967FF47B442}"/>
              </a:ext>
            </a:extLst>
          </p:cNvPr>
          <p:cNvSpPr txBox="1"/>
          <p:nvPr/>
        </p:nvSpPr>
        <p:spPr>
          <a:xfrm>
            <a:off x="787400" y="4826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3000" b="1">
                <a:solidFill>
                  <a:srgbClr val="271811"/>
                </a:solidFill>
                <a:latin typeface="Aptos" panose="020B0004020202020204" pitchFamily="34" charset="0"/>
              </a:rPr>
              <a:t>How It 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77584C-C769-2C20-E26C-0772149BDC58}"/>
              </a:ext>
            </a:extLst>
          </p:cNvPr>
          <p:cNvSpPr txBox="1"/>
          <p:nvPr/>
        </p:nvSpPr>
        <p:spPr>
          <a:xfrm>
            <a:off x="812800" y="1168400"/>
            <a:ext cx="10922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>
                <a:solidFill>
                  <a:srgbClr val="80726B"/>
                </a:solidFill>
                <a:latin typeface="Aptos" panose="020B0004020202020204" pitchFamily="34" charset="0"/>
              </a:rPr>
              <a:t>End-to-end flow from registration to emergency scan.</a:t>
            </a:r>
            <a:endParaRPr lang="en-IN" sz="14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148ACE-60BB-9655-1F2F-A36B2F9F0EB5}"/>
              </a:ext>
            </a:extLst>
          </p:cNvPr>
          <p:cNvSpPr/>
          <p:nvPr/>
        </p:nvSpPr>
        <p:spPr>
          <a:xfrm>
            <a:off x="812800" y="1625600"/>
            <a:ext cx="1219200" cy="635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24B8464-C1E1-3735-A621-240D4D214A2A}"/>
              </a:ext>
            </a:extLst>
          </p:cNvPr>
          <p:cNvSpPr/>
          <p:nvPr/>
        </p:nvSpPr>
        <p:spPr>
          <a:xfrm>
            <a:off x="1016000" y="2667000"/>
            <a:ext cx="3048000" cy="31750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EBE7E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DB3860-8F5F-040E-4613-2F6378B26198}"/>
              </a:ext>
            </a:extLst>
          </p:cNvPr>
          <p:cNvSpPr txBox="1"/>
          <p:nvPr/>
        </p:nvSpPr>
        <p:spPr>
          <a:xfrm>
            <a:off x="1320800" y="3022600"/>
            <a:ext cx="6858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30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BBC714-6B4A-0E6A-B8AB-48881FCB3CC5}"/>
              </a:ext>
            </a:extLst>
          </p:cNvPr>
          <p:cNvSpPr/>
          <p:nvPr/>
        </p:nvSpPr>
        <p:spPr>
          <a:xfrm>
            <a:off x="1270000" y="2921000"/>
            <a:ext cx="736600" cy="7366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4EEF8E-F546-F649-6EDE-46FB6016C311}"/>
              </a:ext>
            </a:extLst>
          </p:cNvPr>
          <p:cNvSpPr txBox="1"/>
          <p:nvPr/>
        </p:nvSpPr>
        <p:spPr>
          <a:xfrm>
            <a:off x="1320800" y="4038600"/>
            <a:ext cx="2413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2200" b="1">
                <a:solidFill>
                  <a:srgbClr val="271811"/>
                </a:solidFill>
                <a:latin typeface="Aptos" panose="020B0004020202020204" pitchFamily="34" charset="0"/>
              </a:rPr>
              <a:t>Register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113C0E-BB72-3EBA-4136-E72B39D18977}"/>
              </a:ext>
            </a:extLst>
          </p:cNvPr>
          <p:cNvSpPr txBox="1"/>
          <p:nvPr/>
        </p:nvSpPr>
        <p:spPr>
          <a:xfrm>
            <a:off x="1320800" y="4673600"/>
            <a:ext cx="2349500" cy="69249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63554B"/>
                </a:solidFill>
                <a:latin typeface="Aptos" panose="020B0004020202020204" pitchFamily="34" charset="0"/>
              </a:rPr>
              <a:t>User creates profile and optionally captures face descriptor.</a:t>
            </a:r>
            <a:endParaRPr lang="en-IN" sz="1500">
              <a:solidFill>
                <a:srgbClr val="63554B"/>
              </a:solidFill>
              <a:latin typeface="Aptos" panose="020B00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A7D1CA5-CC83-3422-39DE-C7358BC05F8C}"/>
              </a:ext>
            </a:extLst>
          </p:cNvPr>
          <p:cNvSpPr/>
          <p:nvPr/>
        </p:nvSpPr>
        <p:spPr>
          <a:xfrm>
            <a:off x="4826000" y="2667000"/>
            <a:ext cx="3048000" cy="31750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EBE7E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75F0CA-3C1F-07CA-0F2E-6AB2BDFFFBE1}"/>
              </a:ext>
            </a:extLst>
          </p:cNvPr>
          <p:cNvSpPr txBox="1"/>
          <p:nvPr/>
        </p:nvSpPr>
        <p:spPr>
          <a:xfrm>
            <a:off x="5130800" y="3022600"/>
            <a:ext cx="6858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30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C7E9E7-EB74-4E89-8B65-A74E1C551D6A}"/>
              </a:ext>
            </a:extLst>
          </p:cNvPr>
          <p:cNvSpPr/>
          <p:nvPr/>
        </p:nvSpPr>
        <p:spPr>
          <a:xfrm>
            <a:off x="5080000" y="2921000"/>
            <a:ext cx="736600" cy="7366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D52536-258A-2E3E-978D-D6906735E4FB}"/>
              </a:ext>
            </a:extLst>
          </p:cNvPr>
          <p:cNvSpPr txBox="1"/>
          <p:nvPr/>
        </p:nvSpPr>
        <p:spPr>
          <a:xfrm>
            <a:off x="5130800" y="4038600"/>
            <a:ext cx="2413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2200" b="1">
                <a:solidFill>
                  <a:srgbClr val="271811"/>
                </a:solidFill>
                <a:latin typeface="Aptos" panose="020B0004020202020204" pitchFamily="34" charset="0"/>
              </a:rPr>
              <a:t>Save Details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DA8DC8-DA3B-346E-0C68-6C2934EC44CD}"/>
              </a:ext>
            </a:extLst>
          </p:cNvPr>
          <p:cNvSpPr txBox="1"/>
          <p:nvPr/>
        </p:nvSpPr>
        <p:spPr>
          <a:xfrm>
            <a:off x="5130800" y="4673600"/>
            <a:ext cx="2349500" cy="69249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63554B"/>
                </a:solidFill>
                <a:latin typeface="Aptos" panose="020B0004020202020204" pitchFamily="34" charset="0"/>
              </a:rPr>
              <a:t>Blood type, allergies, conditions, notes, address, and emergency contact.</a:t>
            </a:r>
            <a:endParaRPr lang="en-IN" sz="1500">
              <a:solidFill>
                <a:srgbClr val="63554B"/>
              </a:solidFill>
              <a:latin typeface="Aptos" panose="020B00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4A43982-1362-6424-88A9-70C23306DAF0}"/>
              </a:ext>
            </a:extLst>
          </p:cNvPr>
          <p:cNvSpPr/>
          <p:nvPr/>
        </p:nvSpPr>
        <p:spPr>
          <a:xfrm>
            <a:off x="8636000" y="2667000"/>
            <a:ext cx="3048000" cy="31750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EBE7E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66CC42-E9E9-AF64-1F6B-A88168C98B1F}"/>
              </a:ext>
            </a:extLst>
          </p:cNvPr>
          <p:cNvSpPr txBox="1"/>
          <p:nvPr/>
        </p:nvSpPr>
        <p:spPr>
          <a:xfrm>
            <a:off x="8940800" y="3022600"/>
            <a:ext cx="6858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30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6284DD-7F8F-F433-E195-2CA9AFB4D499}"/>
              </a:ext>
            </a:extLst>
          </p:cNvPr>
          <p:cNvSpPr/>
          <p:nvPr/>
        </p:nvSpPr>
        <p:spPr>
          <a:xfrm>
            <a:off x="8890000" y="2921000"/>
            <a:ext cx="736600" cy="7366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A748C3-46AE-DFA5-3373-E46EFEFA9A2A}"/>
              </a:ext>
            </a:extLst>
          </p:cNvPr>
          <p:cNvSpPr txBox="1"/>
          <p:nvPr/>
        </p:nvSpPr>
        <p:spPr>
          <a:xfrm>
            <a:off x="8940800" y="4038600"/>
            <a:ext cx="2413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2200" b="1">
                <a:solidFill>
                  <a:srgbClr val="271811"/>
                </a:solidFill>
                <a:latin typeface="Aptos" panose="020B0004020202020204" pitchFamily="34" charset="0"/>
              </a:rPr>
              <a:t>Emergency Scan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8D110A-C5E6-9EED-984E-808EA3FDCD3B}"/>
              </a:ext>
            </a:extLst>
          </p:cNvPr>
          <p:cNvSpPr txBox="1"/>
          <p:nvPr/>
        </p:nvSpPr>
        <p:spPr>
          <a:xfrm>
            <a:off x="8940800" y="4673600"/>
            <a:ext cx="23495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63554B"/>
                </a:solidFill>
                <a:latin typeface="Aptos" panose="020B0004020202020204" pitchFamily="34" charset="0"/>
              </a:rPr>
              <a:t>Responder opens scanner and camera detects a face.</a:t>
            </a:r>
            <a:endParaRPr lang="en-IN" sz="1500">
              <a:solidFill>
                <a:srgbClr val="63554B"/>
              </a:solidFill>
              <a:latin typeface="Aptos" panose="020B00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AA558BA-C55A-7AFC-8CCC-669BC479F964}"/>
              </a:ext>
            </a:extLst>
          </p:cNvPr>
          <p:cNvSpPr/>
          <p:nvPr/>
        </p:nvSpPr>
        <p:spPr>
          <a:xfrm>
            <a:off x="12446000" y="2667000"/>
            <a:ext cx="3048000" cy="31750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EBE7E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D7389C-D9F6-A649-E33C-7115F9061F38}"/>
              </a:ext>
            </a:extLst>
          </p:cNvPr>
          <p:cNvSpPr txBox="1"/>
          <p:nvPr/>
        </p:nvSpPr>
        <p:spPr>
          <a:xfrm>
            <a:off x="12750800" y="3022600"/>
            <a:ext cx="6858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30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B661352-F1EA-008E-207A-29A397E70D84}"/>
              </a:ext>
            </a:extLst>
          </p:cNvPr>
          <p:cNvSpPr/>
          <p:nvPr/>
        </p:nvSpPr>
        <p:spPr>
          <a:xfrm>
            <a:off x="12700000" y="2921000"/>
            <a:ext cx="736600" cy="7366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7D4522-3B85-AC25-F5AF-2E43F492FF97}"/>
              </a:ext>
            </a:extLst>
          </p:cNvPr>
          <p:cNvSpPr txBox="1"/>
          <p:nvPr/>
        </p:nvSpPr>
        <p:spPr>
          <a:xfrm>
            <a:off x="12750800" y="4038600"/>
            <a:ext cx="2413000" cy="33855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2200" b="1">
                <a:solidFill>
                  <a:srgbClr val="271811"/>
                </a:solidFill>
                <a:latin typeface="Aptos" panose="020B0004020202020204" pitchFamily="34" charset="0"/>
              </a:rPr>
              <a:t>Match &amp; Show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32AABC-3936-B4D0-AA3A-428B8F36563E}"/>
              </a:ext>
            </a:extLst>
          </p:cNvPr>
          <p:cNvSpPr txBox="1"/>
          <p:nvPr/>
        </p:nvSpPr>
        <p:spPr>
          <a:xfrm>
            <a:off x="12750800" y="4673600"/>
            <a:ext cx="2349500" cy="69249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500">
                <a:solidFill>
                  <a:srgbClr val="63554B"/>
                </a:solidFill>
                <a:latin typeface="Aptos" panose="020B0004020202020204" pitchFamily="34" charset="0"/>
              </a:rPr>
              <a:t>App compares descriptors and displays emergency details.</a:t>
            </a:r>
            <a:endParaRPr lang="en-IN" sz="1500">
              <a:solidFill>
                <a:srgbClr val="63554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397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6069C9-1A23-125F-76DD-7251A38A0782}"/>
              </a:ext>
            </a:extLst>
          </p:cNvPr>
          <p:cNvSpPr txBox="1"/>
          <p:nvPr/>
        </p:nvSpPr>
        <p:spPr>
          <a:xfrm>
            <a:off x="787400" y="4826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3000" b="1">
                <a:solidFill>
                  <a:srgbClr val="271811"/>
                </a:solidFill>
                <a:latin typeface="Aptos" panose="020B0004020202020204" pitchFamily="34" charset="0"/>
              </a:rPr>
              <a:t>Key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13C743-E623-970B-7765-149014D1F7DC}"/>
              </a:ext>
            </a:extLst>
          </p:cNvPr>
          <p:cNvSpPr txBox="1"/>
          <p:nvPr/>
        </p:nvSpPr>
        <p:spPr>
          <a:xfrm>
            <a:off x="812800" y="1168400"/>
            <a:ext cx="10922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>
                <a:solidFill>
                  <a:srgbClr val="80726B"/>
                </a:solidFill>
                <a:latin typeface="Aptos" panose="020B0004020202020204" pitchFamily="34" charset="0"/>
              </a:rPr>
              <a:t>Built features evaluators can see and test.</a:t>
            </a:r>
            <a:endParaRPr lang="en-IN" sz="14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B3F842-0DD5-0F79-A71F-84C6C4E2EABE}"/>
              </a:ext>
            </a:extLst>
          </p:cNvPr>
          <p:cNvSpPr/>
          <p:nvPr/>
        </p:nvSpPr>
        <p:spPr>
          <a:xfrm>
            <a:off x="812800" y="1625600"/>
            <a:ext cx="1219200" cy="635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2FAF42D-5267-9A87-A2BC-4B8FAE3296B3}"/>
              </a:ext>
            </a:extLst>
          </p:cNvPr>
          <p:cNvSpPr/>
          <p:nvPr/>
        </p:nvSpPr>
        <p:spPr>
          <a:xfrm>
            <a:off x="889000" y="2159000"/>
            <a:ext cx="4572000" cy="18415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EBE7E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71974D-19C2-5033-119E-E2B05386ED8F}"/>
              </a:ext>
            </a:extLst>
          </p:cNvPr>
          <p:cNvSpPr/>
          <p:nvPr/>
        </p:nvSpPr>
        <p:spPr>
          <a:xfrm>
            <a:off x="889000" y="2159000"/>
            <a:ext cx="101600" cy="18415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6557D9-04FF-496D-2B90-364534EDDE3E}"/>
              </a:ext>
            </a:extLst>
          </p:cNvPr>
          <p:cNvSpPr txBox="1"/>
          <p:nvPr/>
        </p:nvSpPr>
        <p:spPr>
          <a:xfrm>
            <a:off x="1193800" y="2438400"/>
            <a:ext cx="4013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b="1">
                <a:solidFill>
                  <a:srgbClr val="271811"/>
                </a:solidFill>
                <a:latin typeface="Aptos" panose="020B0004020202020204" pitchFamily="34" charset="0"/>
              </a:rPr>
              <a:t>Secure account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F48AD6-5671-BD7B-5744-AAF9C8C78660}"/>
              </a:ext>
            </a:extLst>
          </p:cNvPr>
          <p:cNvSpPr txBox="1"/>
          <p:nvPr/>
        </p:nvSpPr>
        <p:spPr>
          <a:xfrm>
            <a:off x="1193800" y="2946400"/>
            <a:ext cx="40132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63554B"/>
                </a:solidFill>
                <a:latin typeface="Aptos" panose="020B0004020202020204" pitchFamily="34" charset="0"/>
              </a:rPr>
              <a:t>User registration, login, logout, and session handling with JWT cookies and password hashing.</a:t>
            </a:r>
            <a:endParaRPr lang="en-IN" sz="1300">
              <a:solidFill>
                <a:srgbClr val="63554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0CDDD85-30D4-5F30-1045-3F3FDCC26842}"/>
              </a:ext>
            </a:extLst>
          </p:cNvPr>
          <p:cNvSpPr/>
          <p:nvPr/>
        </p:nvSpPr>
        <p:spPr>
          <a:xfrm>
            <a:off x="5842000" y="2159000"/>
            <a:ext cx="4572000" cy="18415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EBE7E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7562F7-4443-623D-D261-5AFF5F61FA3C}"/>
              </a:ext>
            </a:extLst>
          </p:cNvPr>
          <p:cNvSpPr/>
          <p:nvPr/>
        </p:nvSpPr>
        <p:spPr>
          <a:xfrm>
            <a:off x="5842000" y="2159000"/>
            <a:ext cx="101600" cy="18415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1EE12F-B0C1-AF8B-8159-6AA36491FDA1}"/>
              </a:ext>
            </a:extLst>
          </p:cNvPr>
          <p:cNvSpPr txBox="1"/>
          <p:nvPr/>
        </p:nvSpPr>
        <p:spPr>
          <a:xfrm>
            <a:off x="6146800" y="2438400"/>
            <a:ext cx="4013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b="1">
                <a:solidFill>
                  <a:srgbClr val="271811"/>
                </a:solidFill>
                <a:latin typeface="Aptos" panose="020B0004020202020204" pitchFamily="34" charset="0"/>
              </a:rPr>
              <a:t>Face recognition flow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19C750-6BDE-6FCF-145E-726A4A5F415C}"/>
              </a:ext>
            </a:extLst>
          </p:cNvPr>
          <p:cNvSpPr txBox="1"/>
          <p:nvPr/>
        </p:nvSpPr>
        <p:spPr>
          <a:xfrm>
            <a:off x="6146800" y="2946400"/>
            <a:ext cx="40132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63554B"/>
                </a:solidFill>
                <a:latin typeface="Aptos" panose="020B0004020202020204" pitchFamily="34" charset="0"/>
              </a:rPr>
              <a:t>Browser camera access, model loading, face descriptor capture, and server-side matching.</a:t>
            </a:r>
            <a:endParaRPr lang="en-IN" sz="1300">
              <a:solidFill>
                <a:srgbClr val="63554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5954C38-0907-859C-B8B0-6DFCE54C6A54}"/>
              </a:ext>
            </a:extLst>
          </p:cNvPr>
          <p:cNvSpPr/>
          <p:nvPr/>
        </p:nvSpPr>
        <p:spPr>
          <a:xfrm>
            <a:off x="10795000" y="2159000"/>
            <a:ext cx="4572000" cy="18415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EBE7E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EBC788-9C89-BD73-44A1-519C9BDC60F2}"/>
              </a:ext>
            </a:extLst>
          </p:cNvPr>
          <p:cNvSpPr/>
          <p:nvPr/>
        </p:nvSpPr>
        <p:spPr>
          <a:xfrm>
            <a:off x="10795000" y="2159000"/>
            <a:ext cx="101600" cy="18415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696578-7CBE-8BA5-3072-4BD7480753F1}"/>
              </a:ext>
            </a:extLst>
          </p:cNvPr>
          <p:cNvSpPr txBox="1"/>
          <p:nvPr/>
        </p:nvSpPr>
        <p:spPr>
          <a:xfrm>
            <a:off x="11099800" y="2438400"/>
            <a:ext cx="4013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b="1">
                <a:solidFill>
                  <a:srgbClr val="271811"/>
                </a:solidFill>
                <a:latin typeface="Aptos" panose="020B0004020202020204" pitchFamily="34" charset="0"/>
              </a:rPr>
              <a:t>Emergency profile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42B56F-3982-AB38-8BC8-AFD65940BAF4}"/>
              </a:ext>
            </a:extLst>
          </p:cNvPr>
          <p:cNvSpPr txBox="1"/>
          <p:nvPr/>
        </p:nvSpPr>
        <p:spPr>
          <a:xfrm>
            <a:off x="11099800" y="2946400"/>
            <a:ext cx="40132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63554B"/>
                </a:solidFill>
                <a:latin typeface="Aptos" panose="020B0004020202020204" pitchFamily="34" charset="0"/>
              </a:rPr>
              <a:t>Structured medical fields: blood type, allergies, conditions, address, contact, relationship, and notes.</a:t>
            </a:r>
            <a:endParaRPr lang="en-IN" sz="1300">
              <a:solidFill>
                <a:srgbClr val="63554B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AF889C9-160D-144B-262B-308C295F5808}"/>
              </a:ext>
            </a:extLst>
          </p:cNvPr>
          <p:cNvSpPr/>
          <p:nvPr/>
        </p:nvSpPr>
        <p:spPr>
          <a:xfrm>
            <a:off x="889000" y="4508500"/>
            <a:ext cx="4572000" cy="18415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EBE7E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AD724B-AE16-6BD3-841B-633C7938179A}"/>
              </a:ext>
            </a:extLst>
          </p:cNvPr>
          <p:cNvSpPr/>
          <p:nvPr/>
        </p:nvSpPr>
        <p:spPr>
          <a:xfrm>
            <a:off x="889000" y="4508500"/>
            <a:ext cx="101600" cy="18415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850E40-6591-3E56-54CF-8703629EC813}"/>
              </a:ext>
            </a:extLst>
          </p:cNvPr>
          <p:cNvSpPr txBox="1"/>
          <p:nvPr/>
        </p:nvSpPr>
        <p:spPr>
          <a:xfrm>
            <a:off x="1193800" y="4787900"/>
            <a:ext cx="4013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b="1">
                <a:solidFill>
                  <a:srgbClr val="271811"/>
                </a:solidFill>
                <a:latin typeface="Aptos" panose="020B0004020202020204" pitchFamily="34" charset="0"/>
              </a:rPr>
              <a:t>Responder-first scanner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E8123D-999E-3F3F-F070-0D435EC6996E}"/>
              </a:ext>
            </a:extLst>
          </p:cNvPr>
          <p:cNvSpPr txBox="1"/>
          <p:nvPr/>
        </p:nvSpPr>
        <p:spPr>
          <a:xfrm>
            <a:off x="1193800" y="5295900"/>
            <a:ext cx="40132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63554B"/>
                </a:solidFill>
                <a:latin typeface="Aptos" panose="020B0004020202020204" pitchFamily="34" charset="0"/>
              </a:rPr>
              <a:t>High-contrast scan screen with clear detection status, match result, and tap-to-call contact links.</a:t>
            </a:r>
            <a:endParaRPr lang="en-IN" sz="1300">
              <a:solidFill>
                <a:srgbClr val="63554B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AA5B10F-DD83-5B0F-19A4-0BA600C8A78C}"/>
              </a:ext>
            </a:extLst>
          </p:cNvPr>
          <p:cNvSpPr/>
          <p:nvPr/>
        </p:nvSpPr>
        <p:spPr>
          <a:xfrm>
            <a:off x="5842000" y="4508500"/>
            <a:ext cx="4572000" cy="18415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EBE7E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278E3A-DBA0-A6B3-02EA-7DDBB19BA45D}"/>
              </a:ext>
            </a:extLst>
          </p:cNvPr>
          <p:cNvSpPr/>
          <p:nvPr/>
        </p:nvSpPr>
        <p:spPr>
          <a:xfrm>
            <a:off x="5842000" y="4508500"/>
            <a:ext cx="101600" cy="18415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C1ADA1-CDC1-EEEC-D0E3-7C66A3F1E256}"/>
              </a:ext>
            </a:extLst>
          </p:cNvPr>
          <p:cNvSpPr txBox="1"/>
          <p:nvPr/>
        </p:nvSpPr>
        <p:spPr>
          <a:xfrm>
            <a:off x="6146800" y="4787900"/>
            <a:ext cx="4013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b="1">
                <a:solidFill>
                  <a:srgbClr val="271811"/>
                </a:solidFill>
                <a:latin typeface="Aptos" panose="020B0004020202020204" pitchFamily="34" charset="0"/>
              </a:rPr>
              <a:t>Graceful fallback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C5A2E6-3A3C-B40C-3875-42BB5B804820}"/>
              </a:ext>
            </a:extLst>
          </p:cNvPr>
          <p:cNvSpPr txBox="1"/>
          <p:nvPr/>
        </p:nvSpPr>
        <p:spPr>
          <a:xfrm>
            <a:off x="6146800" y="5295900"/>
            <a:ext cx="40132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63554B"/>
                </a:solidFill>
                <a:latin typeface="Aptos" panose="020B0004020202020204" pitchFamily="34" charset="0"/>
              </a:rPr>
              <a:t>If camera permission is denied, users can still create a profile and use password login.</a:t>
            </a:r>
            <a:endParaRPr lang="en-IN" sz="1300">
              <a:solidFill>
                <a:srgbClr val="63554B"/>
              </a:solidFill>
              <a:latin typeface="Aptos" panose="020B00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A3E3D4C-7132-B0BC-79BD-EBC161129DED}"/>
              </a:ext>
            </a:extLst>
          </p:cNvPr>
          <p:cNvSpPr/>
          <p:nvPr/>
        </p:nvSpPr>
        <p:spPr>
          <a:xfrm>
            <a:off x="10795000" y="4508500"/>
            <a:ext cx="4572000" cy="18415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EBE7E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0FD310-EA96-B506-5C20-A433281C788D}"/>
              </a:ext>
            </a:extLst>
          </p:cNvPr>
          <p:cNvSpPr/>
          <p:nvPr/>
        </p:nvSpPr>
        <p:spPr>
          <a:xfrm>
            <a:off x="10795000" y="4508500"/>
            <a:ext cx="101600" cy="18415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D025A2-8A94-4F80-D223-E04A021C60CA}"/>
              </a:ext>
            </a:extLst>
          </p:cNvPr>
          <p:cNvSpPr txBox="1"/>
          <p:nvPr/>
        </p:nvSpPr>
        <p:spPr>
          <a:xfrm>
            <a:off x="11099800" y="4787900"/>
            <a:ext cx="4013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b="1">
                <a:solidFill>
                  <a:srgbClr val="271811"/>
                </a:solidFill>
                <a:latin typeface="Aptos" panose="020B0004020202020204" pitchFamily="34" charset="0"/>
              </a:rPr>
              <a:t>Clean dashboard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F11323-96D9-602C-029A-D9F7F734D855}"/>
              </a:ext>
            </a:extLst>
          </p:cNvPr>
          <p:cNvSpPr txBox="1"/>
          <p:nvPr/>
        </p:nvSpPr>
        <p:spPr>
          <a:xfrm>
            <a:off x="11099800" y="5295900"/>
            <a:ext cx="40132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63554B"/>
                </a:solidFill>
                <a:latin typeface="Aptos" panose="020B0004020202020204" pitchFamily="34" charset="0"/>
              </a:rPr>
              <a:t>Profile completion score, last updated date, quick actions, and readable emergency summary.</a:t>
            </a:r>
            <a:endParaRPr lang="en-IN" sz="1300">
              <a:solidFill>
                <a:srgbClr val="63554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989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55A6D7-8412-0862-8765-6D28CF0BE5E7}"/>
              </a:ext>
            </a:extLst>
          </p:cNvPr>
          <p:cNvSpPr txBox="1"/>
          <p:nvPr/>
        </p:nvSpPr>
        <p:spPr>
          <a:xfrm>
            <a:off x="787400" y="4826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3000" b="1">
                <a:solidFill>
                  <a:srgbClr val="271811"/>
                </a:solidFill>
                <a:latin typeface="Aptos" panose="020B0004020202020204" pitchFamily="34" charset="0"/>
              </a:rPr>
              <a:t>Tech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0EC428-C22A-AAE4-D631-36AC0319B56A}"/>
              </a:ext>
            </a:extLst>
          </p:cNvPr>
          <p:cNvSpPr txBox="1"/>
          <p:nvPr/>
        </p:nvSpPr>
        <p:spPr>
          <a:xfrm>
            <a:off x="812800" y="1168400"/>
            <a:ext cx="10922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400">
                <a:solidFill>
                  <a:srgbClr val="80726B"/>
                </a:solidFill>
                <a:latin typeface="Aptos" panose="020B0004020202020204" pitchFamily="34" charset="0"/>
              </a:rPr>
              <a:t>Practical, demo-ready implementation.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C14F12-0A5F-7BA9-6037-61E2B440CBFA}"/>
              </a:ext>
            </a:extLst>
          </p:cNvPr>
          <p:cNvSpPr/>
          <p:nvPr/>
        </p:nvSpPr>
        <p:spPr>
          <a:xfrm>
            <a:off x="812800" y="1625600"/>
            <a:ext cx="1219200" cy="635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28FE8C-9E8D-28A8-A307-58FD04E01A12}"/>
              </a:ext>
            </a:extLst>
          </p:cNvPr>
          <p:cNvSpPr txBox="1"/>
          <p:nvPr/>
        </p:nvSpPr>
        <p:spPr>
          <a:xfrm>
            <a:off x="1460500" y="2349500"/>
            <a:ext cx="9906000" cy="276485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IN" sz="2300">
                <a:solidFill>
                  <a:srgbClr val="271811"/>
                </a:solidFill>
                <a:latin typeface="Aptos" panose="020B0004020202020204" pitchFamily="34" charset="0"/>
              </a:rPr>
              <a:t>• Next.js 16 App Router for pages and API routes</a:t>
            </a:r>
          </a:p>
          <a:p>
            <a:pPr>
              <a:spcAft>
                <a:spcPts val="1000"/>
              </a:spcAft>
            </a:pPr>
            <a:r>
              <a:rPr lang="en-IN" sz="2300">
                <a:solidFill>
                  <a:srgbClr val="271811"/>
                </a:solidFill>
                <a:latin typeface="Aptos" panose="020B0004020202020204" pitchFamily="34" charset="0"/>
              </a:rPr>
              <a:t>• React 19 client flows for camera, forms, and dashboard</a:t>
            </a:r>
          </a:p>
          <a:p>
            <a:pPr>
              <a:spcAft>
                <a:spcPts val="1000"/>
              </a:spcAft>
            </a:pPr>
            <a:r>
              <a:rPr lang="en-IN" sz="2300">
                <a:solidFill>
                  <a:srgbClr val="271811"/>
                </a:solidFill>
                <a:latin typeface="Aptos" panose="020B0004020202020204" pitchFamily="34" charset="0"/>
              </a:rPr>
              <a:t>• Tailwind CSS for responsive emergency-focused UI</a:t>
            </a:r>
          </a:p>
          <a:p>
            <a:pPr>
              <a:spcAft>
                <a:spcPts val="1000"/>
              </a:spcAft>
            </a:pPr>
            <a:r>
              <a:rPr lang="en-IN" sz="2300">
                <a:solidFill>
                  <a:srgbClr val="271811"/>
                </a:solidFill>
                <a:latin typeface="Aptos" panose="020B0004020202020204" pitchFamily="34" charset="0"/>
              </a:rPr>
              <a:t>• face-api.js models loaded from CDN for detection and descriptors</a:t>
            </a:r>
          </a:p>
          <a:p>
            <a:pPr>
              <a:spcAft>
                <a:spcPts val="1000"/>
              </a:spcAft>
            </a:pPr>
            <a:r>
              <a:rPr lang="en-IN" sz="2300">
                <a:solidFill>
                  <a:srgbClr val="271811"/>
                </a:solidFill>
                <a:latin typeface="Aptos" panose="020B0004020202020204" pitchFamily="34" charset="0"/>
              </a:rPr>
              <a:t>• JWT sessions with jose and bcryptjs password hashing</a:t>
            </a:r>
          </a:p>
          <a:p>
            <a:pPr>
              <a:spcAft>
                <a:spcPts val="1000"/>
              </a:spcAft>
            </a:pPr>
            <a:r>
              <a:rPr lang="en-IN" sz="2300">
                <a:solidFill>
                  <a:srgbClr val="271811"/>
                </a:solidFill>
                <a:latin typeface="Aptos" panose="020B0004020202020204" pitchFamily="34" charset="0"/>
              </a:rPr>
              <a:t>• Local JSON datastore for hackathon-speed persistence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4020AF9-29DE-F554-B2B6-DDA3FD59BC8E}"/>
              </a:ext>
            </a:extLst>
          </p:cNvPr>
          <p:cNvSpPr/>
          <p:nvPr/>
        </p:nvSpPr>
        <p:spPr>
          <a:xfrm>
            <a:off x="12065000" y="2260600"/>
            <a:ext cx="2667000" cy="3683000"/>
          </a:xfrm>
          <a:prstGeom prst="roundRect">
            <a:avLst/>
          </a:prstGeom>
          <a:solidFill>
            <a:srgbClr val="271811"/>
          </a:solidFill>
          <a:ln w="15240" cap="flat" cmpd="sng" algn="ctr">
            <a:solidFill>
              <a:srgbClr val="27181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CA6C7C-3BFF-E5CD-BD39-F0C960A1B93B}"/>
              </a:ext>
            </a:extLst>
          </p:cNvPr>
          <p:cNvSpPr txBox="1"/>
          <p:nvPr/>
        </p:nvSpPr>
        <p:spPr>
          <a:xfrm>
            <a:off x="12471400" y="2857500"/>
            <a:ext cx="1905000" cy="80021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2600" b="1">
                <a:solidFill>
                  <a:srgbClr val="FFFFFF"/>
                </a:solidFill>
                <a:latin typeface="Aptos" panose="020B0004020202020204" pitchFamily="34" charset="0"/>
              </a:rPr>
              <a:t>Demo-ready architecture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F69E13-3504-8940-22EA-71B4E6021808}"/>
              </a:ext>
            </a:extLst>
          </p:cNvPr>
          <p:cNvSpPr txBox="1"/>
          <p:nvPr/>
        </p:nvSpPr>
        <p:spPr>
          <a:xfrm>
            <a:off x="12446000" y="4064000"/>
            <a:ext cx="1905000" cy="98488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600">
                <a:solidFill>
                  <a:srgbClr val="DBD5D1"/>
                </a:solidFill>
                <a:latin typeface="Aptos" panose="020B0004020202020204" pitchFamily="34" charset="0"/>
              </a:rPr>
              <a:t>Frontend + API + face matching in one deployable Next.js app.</a:t>
            </a:r>
            <a:endParaRPr lang="en-IN" sz="1600">
              <a:solidFill>
                <a:srgbClr val="DBD5D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615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AC7FBD-CCF7-A100-2FA9-C4613E4481D8}"/>
              </a:ext>
            </a:extLst>
          </p:cNvPr>
          <p:cNvSpPr txBox="1"/>
          <p:nvPr/>
        </p:nvSpPr>
        <p:spPr>
          <a:xfrm>
            <a:off x="787400" y="4826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3000" b="1">
                <a:solidFill>
                  <a:srgbClr val="271811"/>
                </a:solidFill>
                <a:latin typeface="Aptos" panose="020B0004020202020204" pitchFamily="34" charset="0"/>
              </a:rPr>
              <a:t>Security &amp; Privacy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7D4129-B87A-7067-5274-D2500C6F43D7}"/>
              </a:ext>
            </a:extLst>
          </p:cNvPr>
          <p:cNvSpPr txBox="1"/>
          <p:nvPr/>
        </p:nvSpPr>
        <p:spPr>
          <a:xfrm>
            <a:off x="812800" y="1168400"/>
            <a:ext cx="10922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>
                <a:solidFill>
                  <a:srgbClr val="80726B"/>
                </a:solidFill>
                <a:latin typeface="Aptos" panose="020B0004020202020204" pitchFamily="34" charset="0"/>
              </a:rPr>
              <a:t>Designed around minimum emergency disclosure.</a:t>
            </a:r>
            <a:endParaRPr lang="en-IN" sz="14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5238BE-E004-1A3D-A081-0C8852F64AE5}"/>
              </a:ext>
            </a:extLst>
          </p:cNvPr>
          <p:cNvSpPr/>
          <p:nvPr/>
        </p:nvSpPr>
        <p:spPr>
          <a:xfrm>
            <a:off x="812800" y="1625600"/>
            <a:ext cx="1219200" cy="635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CE36B66-9BAD-5DD2-E303-90E9D9BDBDAA}"/>
              </a:ext>
            </a:extLst>
          </p:cNvPr>
          <p:cNvSpPr/>
          <p:nvPr/>
        </p:nvSpPr>
        <p:spPr>
          <a:xfrm>
            <a:off x="1016000" y="2222500"/>
            <a:ext cx="4191000" cy="22225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EBE7E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0C213C-97CE-D66C-1558-5E51C61C6918}"/>
              </a:ext>
            </a:extLst>
          </p:cNvPr>
          <p:cNvSpPr/>
          <p:nvPr/>
        </p:nvSpPr>
        <p:spPr>
          <a:xfrm>
            <a:off x="1016000" y="2222500"/>
            <a:ext cx="101600" cy="22225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DFDF79-5B92-4A66-9F11-AE14AE177AC9}"/>
              </a:ext>
            </a:extLst>
          </p:cNvPr>
          <p:cNvSpPr txBox="1"/>
          <p:nvPr/>
        </p:nvSpPr>
        <p:spPr>
          <a:xfrm>
            <a:off x="1320800" y="2501900"/>
            <a:ext cx="3632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b="1">
                <a:solidFill>
                  <a:srgbClr val="271811"/>
                </a:solidFill>
                <a:latin typeface="Aptos" panose="020B0004020202020204" pitchFamily="34" charset="0"/>
              </a:rPr>
              <a:t>Limited scanner output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C78D29-C221-EF5C-3921-A555D89BDB4E}"/>
              </a:ext>
            </a:extLst>
          </p:cNvPr>
          <p:cNvSpPr txBox="1"/>
          <p:nvPr/>
        </p:nvSpPr>
        <p:spPr>
          <a:xfrm>
            <a:off x="1320800" y="3009900"/>
            <a:ext cx="36322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63554B"/>
                </a:solidFill>
                <a:latin typeface="Aptos" panose="020B0004020202020204" pitchFamily="34" charset="0"/>
              </a:rPr>
              <a:t>The public scan view returns only emergency information, not password or account internals.</a:t>
            </a:r>
            <a:endParaRPr lang="en-IN" sz="1300">
              <a:solidFill>
                <a:srgbClr val="63554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82E3C0A-B16A-9754-73C4-F72A8B731919}"/>
              </a:ext>
            </a:extLst>
          </p:cNvPr>
          <p:cNvSpPr/>
          <p:nvPr/>
        </p:nvSpPr>
        <p:spPr>
          <a:xfrm>
            <a:off x="6032500" y="2222500"/>
            <a:ext cx="4191000" cy="22225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EBE7E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F6D9A2-EA1F-35B1-0B3C-C0CA0AE6327C}"/>
              </a:ext>
            </a:extLst>
          </p:cNvPr>
          <p:cNvSpPr/>
          <p:nvPr/>
        </p:nvSpPr>
        <p:spPr>
          <a:xfrm>
            <a:off x="6032500" y="2222500"/>
            <a:ext cx="101600" cy="22225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9B6D77-B200-1D72-62EE-1799A4734E4D}"/>
              </a:ext>
            </a:extLst>
          </p:cNvPr>
          <p:cNvSpPr txBox="1"/>
          <p:nvPr/>
        </p:nvSpPr>
        <p:spPr>
          <a:xfrm>
            <a:off x="6337300" y="2501900"/>
            <a:ext cx="3632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b="1">
                <a:solidFill>
                  <a:srgbClr val="271811"/>
                </a:solidFill>
                <a:latin typeface="Aptos" panose="020B0004020202020204" pitchFamily="34" charset="0"/>
              </a:rPr>
              <a:t>Session protection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39A00B-0CC7-077B-9575-D30BFFB8217B}"/>
              </a:ext>
            </a:extLst>
          </p:cNvPr>
          <p:cNvSpPr txBox="1"/>
          <p:nvPr/>
        </p:nvSpPr>
        <p:spPr>
          <a:xfrm>
            <a:off x="6337300" y="3009900"/>
            <a:ext cx="36322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63554B"/>
                </a:solidFill>
                <a:latin typeface="Aptos" panose="020B0004020202020204" pitchFamily="34" charset="0"/>
              </a:rPr>
              <a:t>Dashboard and emergency editing require authenticated sessions.</a:t>
            </a:r>
            <a:endParaRPr lang="en-IN" sz="1300">
              <a:solidFill>
                <a:srgbClr val="63554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9B23658-FA94-6433-F6B3-99C33739B91B}"/>
              </a:ext>
            </a:extLst>
          </p:cNvPr>
          <p:cNvSpPr/>
          <p:nvPr/>
        </p:nvSpPr>
        <p:spPr>
          <a:xfrm>
            <a:off x="11049000" y="2222500"/>
            <a:ext cx="4191000" cy="22225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EBE7E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3A6C9A-9881-917D-CC90-E09C955C36AB}"/>
              </a:ext>
            </a:extLst>
          </p:cNvPr>
          <p:cNvSpPr/>
          <p:nvPr/>
        </p:nvSpPr>
        <p:spPr>
          <a:xfrm>
            <a:off x="11049000" y="2222500"/>
            <a:ext cx="101600" cy="22225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9E0406-658C-C775-6451-044CEEDE0C8B}"/>
              </a:ext>
            </a:extLst>
          </p:cNvPr>
          <p:cNvSpPr txBox="1"/>
          <p:nvPr/>
        </p:nvSpPr>
        <p:spPr>
          <a:xfrm>
            <a:off x="11353800" y="2501900"/>
            <a:ext cx="3632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b="1">
                <a:solidFill>
                  <a:srgbClr val="271811"/>
                </a:solidFill>
                <a:latin typeface="Aptos" panose="020B0004020202020204" pitchFamily="34" charset="0"/>
              </a:rPr>
              <a:t>Hashed passwords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9123B0-8DB2-FD64-162A-81B0B220A5B3}"/>
              </a:ext>
            </a:extLst>
          </p:cNvPr>
          <p:cNvSpPr txBox="1"/>
          <p:nvPr/>
        </p:nvSpPr>
        <p:spPr>
          <a:xfrm>
            <a:off x="11353800" y="3009900"/>
            <a:ext cx="36322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63554B"/>
                </a:solidFill>
                <a:latin typeface="Aptos" panose="020B0004020202020204" pitchFamily="34" charset="0"/>
              </a:rPr>
              <a:t>Passwords are stored as bcrypt hashes instead of plain text.</a:t>
            </a:r>
            <a:endParaRPr lang="en-IN" sz="1300">
              <a:solidFill>
                <a:srgbClr val="63554B"/>
              </a:solidFill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09D965-E95E-5FC3-E74D-F3A07FAC0F32}"/>
              </a:ext>
            </a:extLst>
          </p:cNvPr>
          <p:cNvSpPr txBox="1"/>
          <p:nvPr/>
        </p:nvSpPr>
        <p:spPr>
          <a:xfrm>
            <a:off x="1587500" y="5778500"/>
            <a:ext cx="13081000" cy="7386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2400" b="1">
                <a:solidFill>
                  <a:srgbClr val="271811"/>
                </a:solidFill>
                <a:latin typeface="Aptos" panose="020B0004020202020204" pitchFamily="34" charset="0"/>
              </a:rPr>
              <a:t>Future production hardening: encrypted database storage, explicit user consent, audit logs, hospital integration, and verified responder access.</a:t>
            </a:r>
            <a:endParaRPr lang="en-IN" sz="2400" b="1">
              <a:solidFill>
                <a:srgbClr val="27181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179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00E6C5-79C7-717B-5FC1-EB5E6CCEF7AC}"/>
              </a:ext>
            </a:extLst>
          </p:cNvPr>
          <p:cNvSpPr txBox="1"/>
          <p:nvPr/>
        </p:nvSpPr>
        <p:spPr>
          <a:xfrm>
            <a:off x="787400" y="4826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3000" b="1">
                <a:solidFill>
                  <a:srgbClr val="271811"/>
                </a:solidFill>
                <a:latin typeface="Aptos" panose="020B0004020202020204" pitchFamily="34" charset="0"/>
              </a:rPr>
              <a:t>Demo Script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58E391-7D34-EF79-30B5-70006514BA26}"/>
              </a:ext>
            </a:extLst>
          </p:cNvPr>
          <p:cNvSpPr txBox="1"/>
          <p:nvPr/>
        </p:nvSpPr>
        <p:spPr>
          <a:xfrm>
            <a:off x="812800" y="1168400"/>
            <a:ext cx="10922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>
                <a:solidFill>
                  <a:srgbClr val="80726B"/>
                </a:solidFill>
                <a:latin typeface="Aptos" panose="020B0004020202020204" pitchFamily="34" charset="0"/>
              </a:rPr>
              <a:t>A clean 90-second evaluator walkthrough.</a:t>
            </a:r>
            <a:endParaRPr lang="en-IN" sz="14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669844-EB18-2C8C-F809-A35122B7639B}"/>
              </a:ext>
            </a:extLst>
          </p:cNvPr>
          <p:cNvSpPr/>
          <p:nvPr/>
        </p:nvSpPr>
        <p:spPr>
          <a:xfrm>
            <a:off x="812800" y="1625600"/>
            <a:ext cx="1219200" cy="635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39BBEA-A838-F5BE-1520-BCE88FE9A98A}"/>
              </a:ext>
            </a:extLst>
          </p:cNvPr>
          <p:cNvSpPr txBox="1"/>
          <p:nvPr/>
        </p:nvSpPr>
        <p:spPr>
          <a:xfrm>
            <a:off x="1397000" y="2222500"/>
            <a:ext cx="11938000" cy="285719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400">
                <a:solidFill>
                  <a:srgbClr val="271811"/>
                </a:solidFill>
                <a:latin typeface="Aptos" panose="020B0004020202020204" pitchFamily="34" charset="0"/>
              </a:rPr>
              <a:t>• Open home page: explain emergency identity problem</a:t>
            </a:r>
          </a:p>
          <a:p>
            <a:pPr>
              <a:spcAft>
                <a:spcPts val="1000"/>
              </a:spcAft>
            </a:pPr>
            <a:r>
              <a:rPr lang="en-US" sz="2400">
                <a:solidFill>
                  <a:srgbClr val="271811"/>
                </a:solidFill>
                <a:latin typeface="Aptos" panose="020B0004020202020204" pitchFamily="34" charset="0"/>
              </a:rPr>
              <a:t>• Register a user: show camera area and fallback behavior</a:t>
            </a:r>
          </a:p>
          <a:p>
            <a:pPr>
              <a:spcAft>
                <a:spcPts val="1000"/>
              </a:spcAft>
            </a:pPr>
            <a:r>
              <a:rPr lang="en-US" sz="2400">
                <a:solidFill>
                  <a:srgbClr val="271811"/>
                </a:solidFill>
                <a:latin typeface="Aptos" panose="020B0004020202020204" pitchFamily="34" charset="0"/>
              </a:rPr>
              <a:t>• Save emergency details: blood type, allergies, contact, address</a:t>
            </a:r>
          </a:p>
          <a:p>
            <a:pPr>
              <a:spcAft>
                <a:spcPts val="1000"/>
              </a:spcAft>
            </a:pPr>
            <a:r>
              <a:rPr lang="en-US" sz="2400">
                <a:solidFill>
                  <a:srgbClr val="271811"/>
                </a:solidFill>
                <a:latin typeface="Aptos" panose="020B0004020202020204" pitchFamily="34" charset="0"/>
              </a:rPr>
              <a:t>• Open dashboard: show completion and quick actions</a:t>
            </a:r>
          </a:p>
          <a:p>
            <a:pPr>
              <a:spcAft>
                <a:spcPts val="1000"/>
              </a:spcAft>
            </a:pPr>
            <a:r>
              <a:rPr lang="en-US" sz="2400">
                <a:solidFill>
                  <a:srgbClr val="271811"/>
                </a:solidFill>
                <a:latin typeface="Aptos" panose="020B0004020202020204" pitchFamily="34" charset="0"/>
              </a:rPr>
              <a:t>• Open scanner: explain face matching and emergency output</a:t>
            </a:r>
          </a:p>
          <a:p>
            <a:pPr>
              <a:spcAft>
                <a:spcPts val="1000"/>
              </a:spcAft>
            </a:pPr>
            <a:r>
              <a:rPr lang="en-US" sz="2400">
                <a:solidFill>
                  <a:srgbClr val="271811"/>
                </a:solidFill>
                <a:latin typeface="Aptos" panose="020B0004020202020204" pitchFamily="34" charset="0"/>
              </a:rPr>
              <a:t>• Close with impact: faster identity, faster first response</a:t>
            </a:r>
            <a:endParaRPr lang="en-IN" sz="2400">
              <a:solidFill>
                <a:srgbClr val="271811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263D9DF-88D8-F6A2-C54C-7E3875648BD3}"/>
              </a:ext>
            </a:extLst>
          </p:cNvPr>
          <p:cNvSpPr/>
          <p:nvPr/>
        </p:nvSpPr>
        <p:spPr>
          <a:xfrm>
            <a:off x="11684000" y="2921000"/>
            <a:ext cx="2794000" cy="2413000"/>
          </a:xfrm>
          <a:prstGeom prst="roundRect">
            <a:avLst/>
          </a:prstGeom>
          <a:solidFill>
            <a:srgbClr val="E2E2FE"/>
          </a:solidFill>
          <a:ln w="15240" cap="flat" cmpd="sng" algn="ctr">
            <a:solidFill>
              <a:srgbClr val="CACAFE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83D44E-C35F-EC5D-8729-43C2CF70244B}"/>
              </a:ext>
            </a:extLst>
          </p:cNvPr>
          <p:cNvSpPr txBox="1"/>
          <p:nvPr/>
        </p:nvSpPr>
        <p:spPr>
          <a:xfrm>
            <a:off x="12141200" y="3365500"/>
            <a:ext cx="1905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b="1">
                <a:solidFill>
                  <a:srgbClr val="1B1B99"/>
                </a:solidFill>
                <a:latin typeface="Aptos" panose="020B0004020202020204" pitchFamily="34" charset="0"/>
              </a:rPr>
              <a:t>Evaluator hook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F44879-6D46-3EA9-8802-28862FA05153}"/>
              </a:ext>
            </a:extLst>
          </p:cNvPr>
          <p:cNvSpPr txBox="1"/>
          <p:nvPr/>
        </p:nvSpPr>
        <p:spPr>
          <a:xfrm>
            <a:off x="12065000" y="4000500"/>
            <a:ext cx="2032000" cy="104644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sz="1700">
                <a:solidFill>
                  <a:srgbClr val="1D1D7F"/>
                </a:solidFill>
                <a:latin typeface="Aptos" panose="020B0004020202020204" pitchFamily="34" charset="0"/>
              </a:rPr>
              <a:t>“Even if the patient cannot speak, the responder can still see the essentials.”</a:t>
            </a:r>
            <a:endParaRPr lang="en-IN" sz="1700">
              <a:solidFill>
                <a:srgbClr val="1D1D7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018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93C98EC-7C65-48D4-3FF0-19206FA71F4C}"/>
              </a:ext>
            </a:extLst>
          </p:cNvPr>
          <p:cNvSpPr txBox="1"/>
          <p:nvPr/>
        </p:nvSpPr>
        <p:spPr>
          <a:xfrm>
            <a:off x="787400" y="482600"/>
            <a:ext cx="9906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3000" b="1">
                <a:solidFill>
                  <a:srgbClr val="271811"/>
                </a:solidFill>
                <a:latin typeface="Aptos" panose="020B0004020202020204" pitchFamily="34" charset="0"/>
              </a:rPr>
              <a:t>Impact &amp; Use Cases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2E300A-8570-A409-DADF-CA668DA5FEBC}"/>
              </a:ext>
            </a:extLst>
          </p:cNvPr>
          <p:cNvSpPr txBox="1"/>
          <p:nvPr/>
        </p:nvSpPr>
        <p:spPr>
          <a:xfrm>
            <a:off x="812800" y="1168400"/>
            <a:ext cx="10922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>
                <a:solidFill>
                  <a:srgbClr val="80726B"/>
                </a:solidFill>
                <a:latin typeface="Aptos" panose="020B0004020202020204" pitchFamily="34" charset="0"/>
              </a:rPr>
              <a:t>Where this project can matter.</a:t>
            </a:r>
            <a:endParaRPr lang="en-IN" sz="1400">
              <a:solidFill>
                <a:srgbClr val="80726B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50C680-5415-9316-68CE-E83C1CDD8298}"/>
              </a:ext>
            </a:extLst>
          </p:cNvPr>
          <p:cNvSpPr/>
          <p:nvPr/>
        </p:nvSpPr>
        <p:spPr>
          <a:xfrm>
            <a:off x="812800" y="1625600"/>
            <a:ext cx="1219200" cy="635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200F0AD-9E9E-73DB-57CD-5510B059476E}"/>
              </a:ext>
            </a:extLst>
          </p:cNvPr>
          <p:cNvSpPr/>
          <p:nvPr/>
        </p:nvSpPr>
        <p:spPr>
          <a:xfrm>
            <a:off x="1016000" y="2222500"/>
            <a:ext cx="4191000" cy="21590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EBE7E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3E8019-9510-4213-03B3-CD5C35BA8DD9}"/>
              </a:ext>
            </a:extLst>
          </p:cNvPr>
          <p:cNvSpPr/>
          <p:nvPr/>
        </p:nvSpPr>
        <p:spPr>
          <a:xfrm>
            <a:off x="1016000" y="2222500"/>
            <a:ext cx="101600" cy="21590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7EEF8B-24DD-6480-C539-DA2B1C525F57}"/>
              </a:ext>
            </a:extLst>
          </p:cNvPr>
          <p:cNvSpPr txBox="1"/>
          <p:nvPr/>
        </p:nvSpPr>
        <p:spPr>
          <a:xfrm>
            <a:off x="1320800" y="2501900"/>
            <a:ext cx="3632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b="1">
                <a:solidFill>
                  <a:srgbClr val="271811"/>
                </a:solidFill>
                <a:latin typeface="Aptos" panose="020B0004020202020204" pitchFamily="34" charset="0"/>
              </a:rPr>
              <a:t>Road accidents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46DDD3-4F58-3D46-95EE-A2C8031B37DD}"/>
              </a:ext>
            </a:extLst>
          </p:cNvPr>
          <p:cNvSpPr txBox="1"/>
          <p:nvPr/>
        </p:nvSpPr>
        <p:spPr>
          <a:xfrm>
            <a:off x="1320800" y="3009900"/>
            <a:ext cx="36322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63554B"/>
                </a:solidFill>
                <a:latin typeface="Aptos" panose="020B0004020202020204" pitchFamily="34" charset="0"/>
              </a:rPr>
              <a:t>Fast lookup when a person is unconscious or separated from documents.</a:t>
            </a:r>
            <a:endParaRPr lang="en-IN" sz="1300">
              <a:solidFill>
                <a:srgbClr val="63554B"/>
              </a:solidFill>
              <a:latin typeface="Aptos" panose="020B00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4EFF33-F4B4-4503-9473-541D6F099E4C}"/>
              </a:ext>
            </a:extLst>
          </p:cNvPr>
          <p:cNvSpPr/>
          <p:nvPr/>
        </p:nvSpPr>
        <p:spPr>
          <a:xfrm>
            <a:off x="6032500" y="2222500"/>
            <a:ext cx="4191000" cy="21590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EBE7E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708EF5-A4F7-2322-17A5-186F44F214F6}"/>
              </a:ext>
            </a:extLst>
          </p:cNvPr>
          <p:cNvSpPr/>
          <p:nvPr/>
        </p:nvSpPr>
        <p:spPr>
          <a:xfrm>
            <a:off x="6032500" y="2222500"/>
            <a:ext cx="101600" cy="21590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30D9EC-90E3-D706-5858-74066714E6AA}"/>
              </a:ext>
            </a:extLst>
          </p:cNvPr>
          <p:cNvSpPr txBox="1"/>
          <p:nvPr/>
        </p:nvSpPr>
        <p:spPr>
          <a:xfrm>
            <a:off x="6337300" y="2501900"/>
            <a:ext cx="3632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b="1">
                <a:solidFill>
                  <a:srgbClr val="271811"/>
                </a:solidFill>
                <a:latin typeface="Aptos" panose="020B0004020202020204" pitchFamily="34" charset="0"/>
              </a:rPr>
              <a:t>Campus safety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57A44E-61A4-1520-4A3F-87F93A283DB0}"/>
              </a:ext>
            </a:extLst>
          </p:cNvPr>
          <p:cNvSpPr txBox="1"/>
          <p:nvPr/>
        </p:nvSpPr>
        <p:spPr>
          <a:xfrm>
            <a:off x="6337300" y="3009900"/>
            <a:ext cx="36322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63554B"/>
                </a:solidFill>
                <a:latin typeface="Aptos" panose="020B0004020202020204" pitchFamily="34" charset="0"/>
              </a:rPr>
              <a:t>Student emergency profiles for hackathon, college, or event environments.</a:t>
            </a:r>
            <a:endParaRPr lang="en-IN" sz="1300">
              <a:solidFill>
                <a:srgbClr val="63554B"/>
              </a:solidFill>
              <a:latin typeface="Aptos" panose="020B00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C544813-5863-AA52-4BC1-9AAD6119F204}"/>
              </a:ext>
            </a:extLst>
          </p:cNvPr>
          <p:cNvSpPr/>
          <p:nvPr/>
        </p:nvSpPr>
        <p:spPr>
          <a:xfrm>
            <a:off x="11049000" y="2222500"/>
            <a:ext cx="4191000" cy="21590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EBE7E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ABF7F8-B6F4-C754-0CE3-72866FECC1F5}"/>
              </a:ext>
            </a:extLst>
          </p:cNvPr>
          <p:cNvSpPr/>
          <p:nvPr/>
        </p:nvSpPr>
        <p:spPr>
          <a:xfrm>
            <a:off x="11049000" y="2222500"/>
            <a:ext cx="101600" cy="21590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282F70-4D37-41A0-0656-7FFFA3D17F23}"/>
              </a:ext>
            </a:extLst>
          </p:cNvPr>
          <p:cNvSpPr txBox="1"/>
          <p:nvPr/>
        </p:nvSpPr>
        <p:spPr>
          <a:xfrm>
            <a:off x="11353800" y="2501900"/>
            <a:ext cx="3632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b="1">
                <a:solidFill>
                  <a:srgbClr val="271811"/>
                </a:solidFill>
                <a:latin typeface="Aptos" panose="020B0004020202020204" pitchFamily="34" charset="0"/>
              </a:rPr>
              <a:t>Elder care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DC4882-F04E-32CD-A388-060E7286E476}"/>
              </a:ext>
            </a:extLst>
          </p:cNvPr>
          <p:cNvSpPr txBox="1"/>
          <p:nvPr/>
        </p:nvSpPr>
        <p:spPr>
          <a:xfrm>
            <a:off x="11353800" y="3009900"/>
            <a:ext cx="36322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63554B"/>
                </a:solidFill>
                <a:latin typeface="Aptos" panose="020B0004020202020204" pitchFamily="34" charset="0"/>
              </a:rPr>
              <a:t>Support for seniors who may have conditions, medication needs, or memory challenges.</a:t>
            </a:r>
            <a:endParaRPr lang="en-IN" sz="1300">
              <a:solidFill>
                <a:srgbClr val="63554B"/>
              </a:solidFill>
              <a:latin typeface="Aptos" panose="020B00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A3CD0FE-8265-E1B7-6AAF-4045B14C4EBF}"/>
              </a:ext>
            </a:extLst>
          </p:cNvPr>
          <p:cNvSpPr/>
          <p:nvPr/>
        </p:nvSpPr>
        <p:spPr>
          <a:xfrm>
            <a:off x="3530600" y="4953000"/>
            <a:ext cx="4191000" cy="19050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EBE7E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67D107-85EC-7DF2-08A3-EA743817A01B}"/>
              </a:ext>
            </a:extLst>
          </p:cNvPr>
          <p:cNvSpPr/>
          <p:nvPr/>
        </p:nvSpPr>
        <p:spPr>
          <a:xfrm>
            <a:off x="3530600" y="4953000"/>
            <a:ext cx="101600" cy="19050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19EA36-4687-8E50-8100-000F07A9D262}"/>
              </a:ext>
            </a:extLst>
          </p:cNvPr>
          <p:cNvSpPr txBox="1"/>
          <p:nvPr/>
        </p:nvSpPr>
        <p:spPr>
          <a:xfrm>
            <a:off x="3835400" y="5232400"/>
            <a:ext cx="3632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b="1">
                <a:solidFill>
                  <a:srgbClr val="271811"/>
                </a:solidFill>
                <a:latin typeface="Aptos" panose="020B0004020202020204" pitchFamily="34" charset="0"/>
              </a:rPr>
              <a:t>Public events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46BA45-EDF9-DB5D-D283-EC5CDDA307BA}"/>
              </a:ext>
            </a:extLst>
          </p:cNvPr>
          <p:cNvSpPr txBox="1"/>
          <p:nvPr/>
        </p:nvSpPr>
        <p:spPr>
          <a:xfrm>
            <a:off x="3835400" y="5740400"/>
            <a:ext cx="36322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63554B"/>
                </a:solidFill>
                <a:latin typeface="Aptos" panose="020B0004020202020204" pitchFamily="34" charset="0"/>
              </a:rPr>
              <a:t>Temporary safety layer for marathons, festivals, and crowded venues.</a:t>
            </a:r>
            <a:endParaRPr lang="en-IN" sz="1300">
              <a:solidFill>
                <a:srgbClr val="63554B"/>
              </a:solidFill>
              <a:latin typeface="Aptos" panose="020B00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0CE8C04-B238-CE47-49AC-11EA019CD78D}"/>
              </a:ext>
            </a:extLst>
          </p:cNvPr>
          <p:cNvSpPr/>
          <p:nvPr/>
        </p:nvSpPr>
        <p:spPr>
          <a:xfrm>
            <a:off x="8534400" y="4953000"/>
            <a:ext cx="4191000" cy="19050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EBE7E5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C9C5278-0B64-4417-5863-794BE615155F}"/>
              </a:ext>
            </a:extLst>
          </p:cNvPr>
          <p:cNvSpPr/>
          <p:nvPr/>
        </p:nvSpPr>
        <p:spPr>
          <a:xfrm>
            <a:off x="8534400" y="4953000"/>
            <a:ext cx="101600" cy="1905000"/>
          </a:xfrm>
          <a:prstGeom prst="rect">
            <a:avLst/>
          </a:prstGeom>
          <a:solidFill>
            <a:srgbClr val="26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1D437F-D7CD-A3DB-EF78-A4AD4C3142D1}"/>
              </a:ext>
            </a:extLst>
          </p:cNvPr>
          <p:cNvSpPr txBox="1"/>
          <p:nvPr/>
        </p:nvSpPr>
        <p:spPr>
          <a:xfrm>
            <a:off x="8839200" y="5232400"/>
            <a:ext cx="36322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b="1">
                <a:solidFill>
                  <a:srgbClr val="271811"/>
                </a:solidFill>
                <a:latin typeface="Aptos" panose="020B0004020202020204" pitchFamily="34" charset="0"/>
              </a:rPr>
              <a:t>Ambulance handoff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2DEA50-6D46-BB51-EB89-EA15EA954AF7}"/>
              </a:ext>
            </a:extLst>
          </p:cNvPr>
          <p:cNvSpPr txBox="1"/>
          <p:nvPr/>
        </p:nvSpPr>
        <p:spPr>
          <a:xfrm>
            <a:off x="8839200" y="5740400"/>
            <a:ext cx="36322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300">
                <a:solidFill>
                  <a:srgbClr val="63554B"/>
                </a:solidFill>
                <a:latin typeface="Aptos" panose="020B0004020202020204" pitchFamily="34" charset="0"/>
              </a:rPr>
              <a:t>Quickly share blood type, allergies, and emergency contact before hospital arrival.</a:t>
            </a:r>
            <a:endParaRPr lang="en-IN" sz="1300">
              <a:solidFill>
                <a:srgbClr val="63554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341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DE5C82-28B1-A634-6914-75CE1535F15D}"/>
              </a:ext>
            </a:extLst>
          </p:cNvPr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27181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D1F8E9-338B-86C8-3616-BED6BC52E52D}"/>
              </a:ext>
            </a:extLst>
          </p:cNvPr>
          <p:cNvSpPr txBox="1"/>
          <p:nvPr/>
        </p:nvSpPr>
        <p:spPr>
          <a:xfrm>
            <a:off x="1270000" y="1524000"/>
            <a:ext cx="7874000" cy="76944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5000" b="1">
                <a:solidFill>
                  <a:srgbClr val="FFFFFF"/>
                </a:solidFill>
                <a:latin typeface="Aptos" panose="020B0004020202020204" pitchFamily="34" charset="0"/>
              </a:rPr>
              <a:t>EmergencyFace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10991D-FB3B-C58E-9E7A-4E53A964FDA2}"/>
              </a:ext>
            </a:extLst>
          </p:cNvPr>
          <p:cNvSpPr txBox="1"/>
          <p:nvPr/>
        </p:nvSpPr>
        <p:spPr>
          <a:xfrm>
            <a:off x="1333500" y="2730500"/>
            <a:ext cx="9906000" cy="3847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500" b="1">
                <a:solidFill>
                  <a:srgbClr val="A5A5FC"/>
                </a:solidFill>
                <a:latin typeface="Aptos" panose="020B0004020202020204" pitchFamily="34" charset="0"/>
              </a:rPr>
              <a:t>Fast identity. Critical details. Better emergency response.</a:t>
            </a:r>
            <a:endParaRPr lang="en-IN" sz="2500" b="1">
              <a:solidFill>
                <a:srgbClr val="A5A5FC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9402B4-D9B4-06B4-0372-F6D2C367C2D0}"/>
              </a:ext>
            </a:extLst>
          </p:cNvPr>
          <p:cNvSpPr txBox="1"/>
          <p:nvPr/>
        </p:nvSpPr>
        <p:spPr>
          <a:xfrm>
            <a:off x="1460500" y="4000500"/>
            <a:ext cx="8636000" cy="198515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600">
                <a:solidFill>
                  <a:srgbClr val="EBE7E5"/>
                </a:solidFill>
                <a:latin typeface="Aptos" panose="020B0004020202020204" pitchFamily="34" charset="0"/>
              </a:rPr>
              <a:t>• Built working Next.js prototype</a:t>
            </a:r>
          </a:p>
          <a:p>
            <a:pPr>
              <a:spcAft>
                <a:spcPts val="1000"/>
              </a:spcAft>
            </a:pPr>
            <a:r>
              <a:rPr lang="en-US" sz="2600">
                <a:solidFill>
                  <a:srgbClr val="EBE7E5"/>
                </a:solidFill>
                <a:latin typeface="Aptos" panose="020B0004020202020204" pitchFamily="34" charset="0"/>
              </a:rPr>
              <a:t>• Face-based scan and account flows</a:t>
            </a:r>
          </a:p>
          <a:p>
            <a:pPr>
              <a:spcAft>
                <a:spcPts val="1000"/>
              </a:spcAft>
            </a:pPr>
            <a:r>
              <a:rPr lang="en-US" sz="2600">
                <a:solidFill>
                  <a:srgbClr val="EBE7E5"/>
                </a:solidFill>
                <a:latin typeface="Aptos" panose="020B0004020202020204" pitchFamily="34" charset="0"/>
              </a:rPr>
              <a:t>• Emergency dashboard and medical detail editor</a:t>
            </a:r>
          </a:p>
          <a:p>
            <a:pPr>
              <a:spcAft>
                <a:spcPts val="1000"/>
              </a:spcAft>
            </a:pPr>
            <a:r>
              <a:rPr lang="en-US" sz="2600">
                <a:solidFill>
                  <a:srgbClr val="EBE7E5"/>
                </a:solidFill>
                <a:latin typeface="Aptos" panose="020B0004020202020204" pitchFamily="34" charset="0"/>
              </a:rPr>
              <a:t>• Ready for live hackathon demo</a:t>
            </a:r>
            <a:endParaRPr lang="en-IN" sz="2600">
              <a:solidFill>
                <a:srgbClr val="EBE7E5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96A9D2D-A978-5C07-E19A-8DA92403BDA3}"/>
              </a:ext>
            </a:extLst>
          </p:cNvPr>
          <p:cNvSpPr/>
          <p:nvPr/>
        </p:nvSpPr>
        <p:spPr>
          <a:xfrm>
            <a:off x="10795000" y="2032000"/>
            <a:ext cx="3683000" cy="3810000"/>
          </a:xfrm>
          <a:prstGeom prst="roundRect">
            <a:avLst/>
          </a:prstGeom>
          <a:solidFill>
            <a:srgbClr val="FFFFFF"/>
          </a:solidFill>
          <a:ln w="15240" cap="flat" cmpd="sng" algn="ctr">
            <a:solidFill>
              <a:srgbClr val="FFFFFF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00E3EE-2A39-04B5-E24D-F7F22195F08A}"/>
              </a:ext>
            </a:extLst>
          </p:cNvPr>
          <p:cNvSpPr txBox="1"/>
          <p:nvPr/>
        </p:nvSpPr>
        <p:spPr>
          <a:xfrm>
            <a:off x="11430000" y="2984500"/>
            <a:ext cx="2413000" cy="49244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3200" b="1">
                <a:solidFill>
                  <a:srgbClr val="271811"/>
                </a:solidFill>
                <a:latin typeface="Aptos" panose="020B0004020202020204" pitchFamily="34" charset="0"/>
              </a:rPr>
              <a:t>Thank You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35793A-84A6-09F3-69CB-0D87AF638734}"/>
              </a:ext>
            </a:extLst>
          </p:cNvPr>
          <p:cNvSpPr txBox="1"/>
          <p:nvPr/>
        </p:nvSpPr>
        <p:spPr>
          <a:xfrm>
            <a:off x="11684000" y="3937000"/>
            <a:ext cx="19050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2800" b="1">
                <a:solidFill>
                  <a:srgbClr val="2626DC"/>
                </a:solidFill>
                <a:latin typeface="Aptos" panose="020B0004020202020204" pitchFamily="34" charset="0"/>
              </a:rPr>
              <a:t>Questions?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2CD3F6-6941-1EA8-3DBF-ADACEB29863D}"/>
              </a:ext>
            </a:extLst>
          </p:cNvPr>
          <p:cNvSpPr txBox="1"/>
          <p:nvPr/>
        </p:nvSpPr>
        <p:spPr>
          <a:xfrm>
            <a:off x="11303000" y="5016500"/>
            <a:ext cx="2667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1600">
                <a:solidFill>
                  <a:srgbClr val="63554B"/>
                </a:solidFill>
                <a:latin typeface="Aptos" panose="020B0004020202020204" pitchFamily="34" charset="0"/>
              </a:rPr>
              <a:t>Demo: localhost:3000</a:t>
            </a:r>
          </a:p>
        </p:txBody>
      </p:sp>
    </p:spTree>
    <p:extLst>
      <p:ext uri="{BB962C8B-B14F-4D97-AF65-F5344CB8AC3E}">
        <p14:creationId xmlns:p14="http://schemas.microsoft.com/office/powerpoint/2010/main" val="4125801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767</Words>
  <Application>Microsoft Office PowerPoint</Application>
  <PresentationFormat>Custom</PresentationFormat>
  <Paragraphs>103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Shravan Hulagabal</dc:creator>
  <cp:lastModifiedBy>Shravan Hulagabal</cp:lastModifiedBy>
  <cp:revision>1</cp:revision>
  <dcterms:created xsi:type="dcterms:W3CDTF">2026-05-11T18:02:06Z</dcterms:created>
  <dcterms:modified xsi:type="dcterms:W3CDTF">2026-05-11T18:02:06Z</dcterms:modified>
</cp:coreProperties>
</file>